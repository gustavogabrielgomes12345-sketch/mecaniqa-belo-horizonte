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63" r:id="rId5"/>
    <p:sldId id="259" r:id="rId6"/>
    <p:sldId id="264" r:id="rId7"/>
    <p:sldId id="260" r:id="rId8"/>
    <p:sldId id="265" r:id="rId9"/>
    <p:sldId id="261" r:id="rId10"/>
    <p:sldId id="266" r:id="rId11"/>
    <p:sldId id="267" r:id="rId12"/>
    <p:sldId id="268" r:id="rId13"/>
    <p:sldId id="262" r:id="rId14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57" autoAdjust="0"/>
    <p:restoredTop sz="94660"/>
  </p:normalViewPr>
  <p:slideViewPr>
    <p:cSldViewPr snapToGrid="0">
      <p:cViewPr varScale="1">
        <p:scale>
          <a:sx n="62" d="100"/>
          <a:sy n="62" d="100"/>
        </p:scale>
        <p:origin x="67" y="87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324763c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324763c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324763cc5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324763cc5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324763cc5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324763cc5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1C07E0A-236D-046C-E6ED-2A1D0E64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7324763cc5_0_114:notes">
            <a:extLst>
              <a:ext uri="{FF2B5EF4-FFF2-40B4-BE49-F238E27FC236}">
                <a16:creationId xmlns:a16="http://schemas.microsoft.com/office/drawing/2014/main" id="{52F77410-05C3-EB01-EEBF-35FA529FE3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7324763cc5_0_114:notes">
            <a:extLst>
              <a:ext uri="{FF2B5EF4-FFF2-40B4-BE49-F238E27FC236}">
                <a16:creationId xmlns:a16="http://schemas.microsoft.com/office/drawing/2014/main" id="{2AE3D1D9-2F16-AAE8-ADBD-7EB323DE1A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981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324763cc5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324763cc5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8004499F-C61B-888C-4D7C-A61A32758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324763cc5_0_123:notes">
            <a:extLst>
              <a:ext uri="{FF2B5EF4-FFF2-40B4-BE49-F238E27FC236}">
                <a16:creationId xmlns:a16="http://schemas.microsoft.com/office/drawing/2014/main" id="{9CD019DD-A209-6BD5-A360-27F76573A6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324763cc5_0_123:notes">
            <a:extLst>
              <a:ext uri="{FF2B5EF4-FFF2-40B4-BE49-F238E27FC236}">
                <a16:creationId xmlns:a16="http://schemas.microsoft.com/office/drawing/2014/main" id="{3A1F7541-C359-170D-445B-83549DC459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295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1a07209c1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1a07209c1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1425FA66-C254-D361-E0EE-2EA103E5B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1a07209c1_1_0:notes">
            <a:extLst>
              <a:ext uri="{FF2B5EF4-FFF2-40B4-BE49-F238E27FC236}">
                <a16:creationId xmlns:a16="http://schemas.microsoft.com/office/drawing/2014/main" id="{2FAF6F0E-6825-6A25-C158-8AC471399F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1a07209c1_1_0:notes">
            <a:extLst>
              <a:ext uri="{FF2B5EF4-FFF2-40B4-BE49-F238E27FC236}">
                <a16:creationId xmlns:a16="http://schemas.microsoft.com/office/drawing/2014/main" id="{3B1149B8-3077-9D9D-80A5-A4690685D0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1629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5ed034c1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05ed034c1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8EFB0A9F-6862-D900-7C1D-5DD02504E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5ed034c1_0_96:notes">
            <a:extLst>
              <a:ext uri="{FF2B5EF4-FFF2-40B4-BE49-F238E27FC236}">
                <a16:creationId xmlns:a16="http://schemas.microsoft.com/office/drawing/2014/main" id="{5FDDD64E-21F2-BB9E-9A95-4CABA0541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05ed034c1_0_96:notes">
            <a:extLst>
              <a:ext uri="{FF2B5EF4-FFF2-40B4-BE49-F238E27FC236}">
                <a16:creationId xmlns:a16="http://schemas.microsoft.com/office/drawing/2014/main" id="{B0BDEBE2-9AE2-670C-8311-2377B3AAF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8585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5B76DADE-120A-8826-76F4-1C88E123E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1a07209c1_1_9:notes">
            <a:extLst>
              <a:ext uri="{FF2B5EF4-FFF2-40B4-BE49-F238E27FC236}">
                <a16:creationId xmlns:a16="http://schemas.microsoft.com/office/drawing/2014/main" id="{6DA5BAC0-5AD1-EE42-A6D4-BB5829E482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1a07209c1_1_9:notes">
            <a:extLst>
              <a:ext uri="{FF2B5EF4-FFF2-40B4-BE49-F238E27FC236}">
                <a16:creationId xmlns:a16="http://schemas.microsoft.com/office/drawing/2014/main" id="{14937370-8442-2D68-1689-0EFB4B4EB3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75448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5FBF36FB-A447-7CBA-C37A-EE1E60742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1a07209c1_1_9:notes">
            <a:extLst>
              <a:ext uri="{FF2B5EF4-FFF2-40B4-BE49-F238E27FC236}">
                <a16:creationId xmlns:a16="http://schemas.microsoft.com/office/drawing/2014/main" id="{B0B90384-6E90-01D6-7BDA-F28C606AE4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1a07209c1_1_9:notes">
            <a:extLst>
              <a:ext uri="{FF2B5EF4-FFF2-40B4-BE49-F238E27FC236}">
                <a16:creationId xmlns:a16="http://schemas.microsoft.com/office/drawing/2014/main" id="{8D6EB03B-3442-6FA0-5FA5-012209E34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23535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1a07209c1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81a07209c1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me.usp.br/~pf/algoritmos/aulas/ordena.html" TargetMode="Externa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ev.java/learn/classes-objects/enums/" TargetMode="External"/><Relationship Id="rId5" Type="http://schemas.openxmlformats.org/officeDocument/2006/relationships/hyperlink" Target="https://docs.oracle.com/javase/tutorial/java/javaOO/enum.html" TargetMode="External"/><Relationship Id="rId4" Type="http://schemas.openxmlformats.org/officeDocument/2006/relationships/hyperlink" Target="https://www.devmedia.com.br/algoritmos-de-ordenacao-em-java/326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73" y="179361"/>
            <a:ext cx="2182950" cy="12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05725" y="370300"/>
            <a:ext cx="5907900" cy="8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Centro Universitário de Excelência</a:t>
            </a:r>
            <a:endParaRPr sz="20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Sistemas de Informação</a:t>
            </a:r>
            <a:endParaRPr sz="20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68975" y="3220700"/>
            <a:ext cx="8091900" cy="12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Autor:</a:t>
            </a:r>
            <a:r>
              <a:rPr lang="pt-BR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dirty="0">
                <a:latin typeface="Poppins"/>
                <a:ea typeface="Poppins"/>
                <a:cs typeface="Poppins"/>
                <a:sym typeface="Poppins"/>
              </a:rPr>
              <a:t>&lt;Gustavo Gabriel Gomes Mauricio&gt;</a:t>
            </a:r>
            <a:br>
              <a:rPr lang="pt-BR" dirty="0">
                <a:latin typeface="Poppins"/>
                <a:ea typeface="Poppins"/>
                <a:cs typeface="Poppins"/>
                <a:sym typeface="Poppins"/>
              </a:rPr>
            </a:br>
            <a:r>
              <a:rPr lang="pt-BR" dirty="0">
                <a:latin typeface="Poppins"/>
                <a:ea typeface="Poppins"/>
                <a:cs typeface="Poppins"/>
                <a:sym typeface="Poppins"/>
              </a:rPr>
              <a:t>            </a:t>
            </a: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&lt;João Victor da Silva Santos Silva&gt;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&lt;Pedro Henrique da Silva Reis Santana&gt;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endParaRPr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1531950"/>
            <a:ext cx="9144000" cy="17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14300" lvl="0" algn="ctr"/>
            <a:r>
              <a:rPr lang="pt-BR" sz="3600" dirty="0" err="1"/>
              <a:t>MecâniQA</a:t>
            </a:r>
            <a:r>
              <a:rPr lang="pt-BR" sz="3600" dirty="0"/>
              <a:t>: Módulo de Atendimento, Fila FIFO e Persistência de Dados (OAT 2)</a:t>
            </a:r>
            <a:endParaRPr sz="3600" b="1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214925" y="4653975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14300" lvl="0" indent="0" algn="ctr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Feira de Santana, 2026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32319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192150" y="482800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3600" b="1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92150" y="3313225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200" b="1" dirty="0"/>
              <a:t>Objetivo:</a:t>
            </a:r>
            <a:r>
              <a:rPr lang="pt-BR" sz="1200" dirty="0"/>
              <a:t> Demonstrar a arquitetura técnica da OAT 2 com foco em coleções dinâmicas, regras de negócio invioláveis e algoritmos clássicos. 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4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Item :</a:t>
            </a:r>
            <a:r>
              <a:rPr lang="pt-BR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pt-BR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 dirty="0"/>
              <a:t>Modelagem Dinâmica de Clientes, Carros e </a:t>
            </a:r>
            <a:r>
              <a:rPr lang="pt-BR" sz="1200" dirty="0" err="1"/>
              <a:t>Enums</a:t>
            </a:r>
            <a:r>
              <a:rPr lang="pt-BR" sz="1200" dirty="0"/>
              <a:t> 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420000" y="2000025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Item:</a:t>
            </a:r>
            <a:r>
              <a:rPr lang="pt-BR" sz="1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pt-BR" sz="1200" dirty="0"/>
              <a:t>Gestão de Pedidos, Associação por </a:t>
            </a:r>
            <a:r>
              <a:rPr lang="pt-BR" sz="1200" dirty="0" err="1"/>
              <a:t>ItemPedido</a:t>
            </a:r>
            <a:r>
              <a:rPr lang="pt-BR" sz="1200" dirty="0"/>
              <a:t> e Trava de Edição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20000" y="333000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Item:</a:t>
            </a:r>
            <a:r>
              <a:rPr lang="pt-BR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pt-BR" sz="1200" dirty="0"/>
              <a:t>Ordem de Serviço e Fila Purista de Atendimento (FIFO)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1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Item: </a:t>
            </a:r>
            <a:r>
              <a:rPr lang="pt-BR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pt-BR" sz="1200" dirty="0"/>
              <a:t>Motor de Ordenação do Zero com Seleção de Chave por Enum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</a:t>
            </a:fld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120000" y="20347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Item: </a:t>
            </a:r>
            <a:r>
              <a:rPr lang="pt-BR" sz="1200" dirty="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lvl="0"/>
            <a:r>
              <a:rPr lang="pt-BR" sz="1200" dirty="0"/>
              <a:t>Persistência Física em Arquivos CSV com Delimitador Ponto e Vírgula</a:t>
            </a:r>
            <a:endParaRPr sz="1200" dirty="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42096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/>
            <a:r>
              <a:rPr lang="pt-BR" i="1" dirty="0"/>
              <a:t>Problema / Pedido do Guia:</a:t>
            </a:r>
            <a:r>
              <a:rPr lang="pt-BR" dirty="0"/>
              <a:t> Abandonar </a:t>
            </a:r>
            <a:r>
              <a:rPr lang="pt-BR" i="1" dirty="0"/>
              <a:t>Problema / Pedido do Guia:</a:t>
            </a:r>
            <a:r>
              <a:rPr lang="pt-BR" dirty="0"/>
              <a:t> Abandonar </a:t>
            </a:r>
            <a:r>
              <a:rPr lang="pt-BR" dirty="0" err="1"/>
              <a:t>arrays</a:t>
            </a:r>
            <a:r>
              <a:rPr lang="pt-BR" dirty="0"/>
              <a:t> fixos para comportar múltiplos carros por cliente e restringir o estilo da carroceria. </a:t>
            </a:r>
          </a:p>
          <a:p>
            <a:pPr marL="114300" lvl="0" indent="0">
              <a:buNone/>
            </a:pPr>
            <a:endParaRPr lang="pt-BR" dirty="0"/>
          </a:p>
          <a:p>
            <a:pPr lvl="0"/>
            <a:r>
              <a:rPr lang="pt-BR" i="1" dirty="0"/>
              <a:t>Solução no Código:</a:t>
            </a:r>
            <a:r>
              <a:rPr lang="pt-BR" dirty="0"/>
              <a:t> Criação de </a:t>
            </a:r>
            <a:r>
              <a:rPr lang="pt-BR" dirty="0" err="1"/>
              <a:t>EstiloCarro</a:t>
            </a:r>
            <a:r>
              <a:rPr lang="pt-BR" dirty="0"/>
              <a:t> (HATCH, SEDAN, SUV) e uso de </a:t>
            </a:r>
            <a:r>
              <a:rPr lang="pt-BR" dirty="0" err="1"/>
              <a:t>List</a:t>
            </a:r>
            <a:r>
              <a:rPr lang="pt-BR" dirty="0"/>
              <a:t>&lt;Carro&gt; em Cliente.java. </a:t>
            </a:r>
          </a:p>
          <a:p>
            <a:pPr marL="114300" lvl="0" indent="0">
              <a:buNone/>
            </a:pPr>
            <a:endParaRPr lang="pt-BR" dirty="0"/>
          </a:p>
          <a:p>
            <a:pPr lvl="0"/>
            <a:r>
              <a:rPr lang="pt-BR" i="1" dirty="0"/>
              <a:t>Evidência Técnica:</a:t>
            </a:r>
            <a:r>
              <a:rPr lang="pt-BR" dirty="0"/>
              <a:t> </a:t>
            </a:r>
            <a:r>
              <a:rPr lang="pt-BR" i="1" dirty="0" err="1"/>
              <a:t>Type</a:t>
            </a:r>
            <a:r>
              <a:rPr lang="pt-BR" i="1" dirty="0"/>
              <a:t> </a:t>
            </a:r>
            <a:r>
              <a:rPr lang="pt-BR" i="1" dirty="0" err="1"/>
              <a:t>Safety</a:t>
            </a:r>
            <a:r>
              <a:rPr lang="pt-BR" dirty="0"/>
              <a:t> contra entradas inválidas e alocação dinâmica na memória </a:t>
            </a:r>
            <a:r>
              <a:rPr lang="pt-BR" i="1" dirty="0" err="1"/>
              <a:t>Heap</a:t>
            </a:r>
            <a:r>
              <a:rPr lang="pt-BR" dirty="0"/>
              <a:t> sem risco de estouro de capacidade estática. </a:t>
            </a:r>
          </a:p>
          <a:p>
            <a:pPr lvl="0">
              <a:buFont typeface="Poppins"/>
              <a:buChar char="●"/>
            </a:pPr>
            <a:endParaRPr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311700" y="230675"/>
            <a:ext cx="7014977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2800" dirty="0">
                <a:highlight>
                  <a:srgbClr val="FFFFFF"/>
                </a:highlight>
              </a:rPr>
              <a:t>Tema 1: Entidades Cliente, Carro e Restrição de Estados</a:t>
            </a:r>
            <a:endParaRPr sz="28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5B4BA59-1D7D-25AD-BC80-24CED275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7" name="Google Shape;77;p15">
                <a:extLst>
                  <a:ext uri="{FF2B5EF4-FFF2-40B4-BE49-F238E27FC236}">
                    <a16:creationId xmlns:a16="http://schemas.microsoft.com/office/drawing/2014/main" id="{3ED43AE4-8372-74F9-BBAB-D53014987607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11700" y="1152475"/>
                <a:ext cx="8442096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lvl="0"/>
                <a:r>
                  <a:rPr lang="pt-BR" b="1" dirty="0"/>
                  <a:t>O que faz:</a:t>
                </a:r>
                <a:r>
                  <a:rPr lang="pt-BR" dirty="0"/>
                  <a:t> A classe Cliente agora gerencia uma lista dinâmica carros via </a:t>
                </a:r>
                <a:r>
                  <a:rPr lang="pt-BR" dirty="0" err="1"/>
                  <a:t>ArrayList</a:t>
                </a:r>
                <a:r>
                  <a:rPr lang="pt-BR" dirty="0"/>
                  <a:t>. O método </a:t>
                </a:r>
                <a:r>
                  <a:rPr lang="pt-BR" dirty="0" err="1"/>
                  <a:t>adicionarCarro</a:t>
                </a:r>
                <a:r>
                  <a:rPr lang="pt-BR" dirty="0"/>
                  <a:t>() permite vincular </a:t>
                </a:r>
                <a14:m>
                  <m:oMath xmlns:m="http://schemas.openxmlformats.org/officeDocument/2006/math">
                    <m:r>
                      <a:rPr lang="pt-BR" i="1"/>
                      <m:t>𝑁</m:t>
                    </m:r>
                  </m:oMath>
                </a14:m>
                <a:r>
                  <a:rPr lang="pt-BR" dirty="0"/>
                  <a:t> veículos a um único cliente. </a:t>
                </a:r>
              </a:p>
              <a:p>
                <a:pPr marL="114300" lvl="0" indent="0">
                  <a:buNone/>
                </a:pPr>
                <a:endParaRPr lang="pt-BR" dirty="0"/>
              </a:p>
              <a:p>
                <a:pPr lvl="0"/>
                <a:r>
                  <a:rPr lang="pt-BR" b="1" dirty="0"/>
                  <a:t>Principal ponto pedido:</a:t>
                </a:r>
                <a:r>
                  <a:rPr lang="pt-BR" dirty="0"/>
                  <a:t> Evitar falhas de digitação e inconsistências na carroceria usando tipos enumerados. </a:t>
                </a:r>
              </a:p>
              <a:p>
                <a:pPr marL="114300" lvl="0" indent="0">
                  <a:buNone/>
                </a:pPr>
                <a:endParaRPr lang="pt-BR" dirty="0"/>
              </a:p>
              <a:p>
                <a:pPr lvl="0"/>
                <a:r>
                  <a:rPr lang="pt-BR" b="1" dirty="0"/>
                  <a:t>Como resolvemos:</a:t>
                </a:r>
                <a:r>
                  <a:rPr lang="pt-BR" dirty="0"/>
                  <a:t> Declaramos o enum </a:t>
                </a:r>
                <a:r>
                  <a:rPr lang="pt-BR" dirty="0" err="1"/>
                  <a:t>EstiloCarro</a:t>
                </a:r>
                <a:r>
                  <a:rPr lang="pt-BR" dirty="0"/>
                  <a:t>. Se tentarem cadastrar qualquer valor fora de HATCH, SEDAN ou SUV, o compilador barra antes da execução.</a:t>
                </a:r>
                <a:endParaRPr dirty="0"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mc:Choice>
        <mc:Fallback>
          <p:sp>
            <p:nvSpPr>
              <p:cNvPr id="77" name="Google Shape;77;p15">
                <a:extLst>
                  <a:ext uri="{FF2B5EF4-FFF2-40B4-BE49-F238E27FC236}">
                    <a16:creationId xmlns:a16="http://schemas.microsoft.com/office/drawing/2014/main" id="{3ED43AE4-8372-74F9-BBAB-D53014987607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11700" y="1152475"/>
                <a:ext cx="8442096" cy="3416400"/>
              </a:xfrm>
              <a:prstGeom prst="rect">
                <a:avLst/>
              </a:prstGeom>
              <a:blipFill>
                <a:blip r:embed="rId3"/>
                <a:stretch>
                  <a:fillRect r="-72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3957C43B-CB0A-4ADE-EF78-E3A08A1494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sp>
        <p:nvSpPr>
          <p:cNvPr id="79" name="Google Shape;79;p15">
            <a:extLst>
              <a:ext uri="{FF2B5EF4-FFF2-40B4-BE49-F238E27FC236}">
                <a16:creationId xmlns:a16="http://schemas.microsoft.com/office/drawing/2014/main" id="{3B5A368D-BE1C-214F-438D-57C4AB707B9A}"/>
              </a:ext>
            </a:extLst>
          </p:cNvPr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2800" dirty="0">
                <a:highlight>
                  <a:srgbClr val="FFFFFF"/>
                </a:highlight>
              </a:rPr>
              <a:t>Foco no Código e Resolução:</a:t>
            </a:r>
            <a:endParaRPr sz="28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" name="Google Shape;80;p15">
            <a:extLst>
              <a:ext uri="{FF2B5EF4-FFF2-40B4-BE49-F238E27FC236}">
                <a16:creationId xmlns:a16="http://schemas.microsoft.com/office/drawing/2014/main" id="{B41F43C0-9B61-24BB-DF17-36DC26A74CA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097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sp>
        <p:nvSpPr>
          <p:cNvPr id="87" name="Google Shape;87;p16"/>
          <p:cNvSpPr txBox="1"/>
          <p:nvPr/>
        </p:nvSpPr>
        <p:spPr>
          <a:xfrm>
            <a:off x="83800" y="95525"/>
            <a:ext cx="7290486" cy="6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200" dirty="0">
                <a:highlight>
                  <a:srgbClr val="FFFFFF"/>
                </a:highlight>
              </a:rPr>
              <a:t>Tema 2: Pedido de Balcão e Integridade Transacional</a:t>
            </a:r>
            <a:endParaRPr sz="32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7351" y="4510150"/>
            <a:ext cx="1270424" cy="687497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>
            <a:spLocks noGrp="1"/>
          </p:cNvSpPr>
          <p:nvPr>
            <p:ph type="body" idx="1"/>
          </p:nvPr>
        </p:nvSpPr>
        <p:spPr>
          <a:xfrm>
            <a:off x="0" y="1251361"/>
            <a:ext cx="4653726" cy="3796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lvl="0" indent="-330200">
              <a:buSzPts val="1600"/>
              <a:buFont typeface="Poppins"/>
              <a:buChar char="●"/>
            </a:pPr>
            <a:r>
              <a:rPr lang="pt-BR" sz="1600" i="1" dirty="0"/>
              <a:t>Problema / Pedido do Guia:</a:t>
            </a:r>
            <a:r>
              <a:rPr lang="pt-BR" sz="1600" dirty="0"/>
              <a:t> Associar peças a quantidades específicas sem sujar o cadastro de estoque e impedir edições em pedidos concluídos.</a:t>
            </a:r>
          </a:p>
          <a:p>
            <a:pPr lvl="0" indent="-330200">
              <a:buSzPts val="1600"/>
              <a:buFont typeface="Poppins"/>
              <a:buChar char="●"/>
            </a:pPr>
            <a:endParaRPr lang="pt-BR" sz="1600" dirty="0"/>
          </a:p>
          <a:p>
            <a:pPr lvl="0" indent="-330200">
              <a:buSzPts val="1600"/>
              <a:buFont typeface="Poppins"/>
              <a:buChar char="●"/>
            </a:pPr>
            <a:r>
              <a:rPr lang="pt-BR" sz="1600" i="1" dirty="0"/>
              <a:t>Solução no Código:</a:t>
            </a:r>
            <a:r>
              <a:rPr lang="pt-BR" sz="1600" dirty="0"/>
              <a:t> Criação da classe intermediária </a:t>
            </a:r>
            <a:r>
              <a:rPr lang="pt-BR" dirty="0" err="1"/>
              <a:t>ItemPedido</a:t>
            </a:r>
            <a:r>
              <a:rPr lang="pt-BR" sz="1600" dirty="0"/>
              <a:t> e trava via </a:t>
            </a:r>
            <a:r>
              <a:rPr lang="pt-BR" dirty="0" err="1"/>
              <a:t>StatusPedido</a:t>
            </a:r>
            <a:r>
              <a:rPr lang="pt-BR" sz="1600" dirty="0"/>
              <a:t> em </a:t>
            </a:r>
            <a:r>
              <a:rPr lang="pt-BR" dirty="0"/>
              <a:t>Pedido.java</a:t>
            </a:r>
            <a:r>
              <a:rPr lang="pt-BR" sz="1600" dirty="0"/>
              <a:t>. </a:t>
            </a:r>
          </a:p>
          <a:p>
            <a:pPr lvl="0" indent="-330200">
              <a:buSzPts val="1600"/>
              <a:buFont typeface="Poppins"/>
              <a:buChar char="●"/>
            </a:pPr>
            <a:endParaRPr lang="pt-BR" sz="1600" dirty="0"/>
          </a:p>
          <a:p>
            <a:pPr lvl="0" indent="-330200">
              <a:buSzPts val="1600"/>
              <a:buFont typeface="Poppins"/>
              <a:buChar char="●"/>
            </a:pPr>
            <a:r>
              <a:rPr lang="pt-BR" sz="1600" i="1" dirty="0"/>
              <a:t>Evidência Técnica:</a:t>
            </a:r>
            <a:r>
              <a:rPr lang="pt-BR" sz="1600" dirty="0"/>
              <a:t> Disparo de </a:t>
            </a:r>
            <a:r>
              <a:rPr lang="pt-BR" dirty="0" err="1"/>
              <a:t>IllegalStateException</a:t>
            </a:r>
            <a:r>
              <a:rPr lang="pt-BR" sz="1600" dirty="0"/>
              <a:t> na tentativa de inserção pós-fechamento e dedução automática do estoque.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9638F9F-2C00-62A9-4527-0F793453A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290" y="0"/>
            <a:ext cx="287071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>
          <a:extLst>
            <a:ext uri="{FF2B5EF4-FFF2-40B4-BE49-F238E27FC236}">
              <a16:creationId xmlns:a16="http://schemas.microsoft.com/office/drawing/2014/main" id="{BE52C172-BB1C-91B1-6A92-AC193616B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0D165E21-4F6C-5345-67A3-92ED9A44C7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87" name="Google Shape;87;p16">
            <a:extLst>
              <a:ext uri="{FF2B5EF4-FFF2-40B4-BE49-F238E27FC236}">
                <a16:creationId xmlns:a16="http://schemas.microsoft.com/office/drawing/2014/main" id="{22E70F09-3AD4-5FB0-083F-6FD3B921A43A}"/>
              </a:ext>
            </a:extLst>
          </p:cNvPr>
          <p:cNvSpPr txBox="1"/>
          <p:nvPr/>
        </p:nvSpPr>
        <p:spPr>
          <a:xfrm>
            <a:off x="311700" y="219236"/>
            <a:ext cx="7290486" cy="6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200" b="1" dirty="0">
                <a:highlight>
                  <a:srgbClr val="FFFFFF"/>
                </a:highlight>
              </a:rPr>
              <a:t>Foco no Código e Resolução:</a:t>
            </a:r>
            <a:endParaRPr sz="32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8" name="Google Shape;88;p16">
            <a:extLst>
              <a:ext uri="{FF2B5EF4-FFF2-40B4-BE49-F238E27FC236}">
                <a16:creationId xmlns:a16="http://schemas.microsoft.com/office/drawing/2014/main" id="{5A612F52-4B7D-BCF5-051A-223B6FD2CF0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>
            <a:extLst>
              <a:ext uri="{FF2B5EF4-FFF2-40B4-BE49-F238E27FC236}">
                <a16:creationId xmlns:a16="http://schemas.microsoft.com/office/drawing/2014/main" id="{953A871B-754A-B304-6D89-E77A7DE1BE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00" y="1346886"/>
            <a:ext cx="8937358" cy="37966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30200">
              <a:buSzPts val="1600"/>
              <a:buFont typeface="Poppins"/>
              <a:buChar char="●"/>
            </a:pPr>
            <a:r>
              <a:rPr lang="pt-BR" sz="1600" b="1" dirty="0"/>
              <a:t>O que faz:</a:t>
            </a:r>
            <a:r>
              <a:rPr lang="pt-BR" sz="1600" dirty="0"/>
              <a:t> </a:t>
            </a:r>
            <a:r>
              <a:rPr lang="pt-BR" dirty="0" err="1"/>
              <a:t>ItemPedido</a:t>
            </a:r>
            <a:r>
              <a:rPr lang="pt-BR" sz="1600" dirty="0"/>
              <a:t> encapsula a referência de </a:t>
            </a:r>
            <a:r>
              <a:rPr lang="pt-BR" dirty="0"/>
              <a:t>Peca</a:t>
            </a:r>
            <a:r>
              <a:rPr lang="pt-BR" sz="1600" dirty="0"/>
              <a:t> e a quantidade vendida. O método </a:t>
            </a:r>
            <a:r>
              <a:rPr lang="pt-BR" dirty="0" err="1"/>
              <a:t>calcularTotal</a:t>
            </a:r>
            <a:r>
              <a:rPr lang="pt-BR" dirty="0"/>
              <a:t>()</a:t>
            </a:r>
            <a:r>
              <a:rPr lang="pt-BR" sz="1600" dirty="0"/>
              <a:t> itera sobre a lista de itens aplicando o percentual de desconto.</a:t>
            </a:r>
          </a:p>
          <a:p>
            <a:pPr marL="127000" lvl="0" indent="0">
              <a:buSzPts val="1600"/>
              <a:buNone/>
            </a:pPr>
            <a:endParaRPr lang="pt-BR" sz="1600" dirty="0"/>
          </a:p>
          <a:p>
            <a:pPr lvl="0" indent="-330200">
              <a:buSzPts val="1600"/>
              <a:buFont typeface="Poppins"/>
              <a:buChar char="●"/>
            </a:pPr>
            <a:r>
              <a:rPr lang="pt-BR" sz="1600" b="1" dirty="0"/>
              <a:t>Principal ponto pedido:</a:t>
            </a:r>
            <a:r>
              <a:rPr lang="pt-BR" sz="1600" dirty="0"/>
              <a:t> Garantir a regra de bloqueio inegociável pós-finalização. </a:t>
            </a:r>
          </a:p>
          <a:p>
            <a:pPr marL="127000" lvl="0" indent="0">
              <a:buSzPts val="1600"/>
              <a:buNone/>
            </a:pPr>
            <a:endParaRPr lang="pt-BR" sz="1600" dirty="0"/>
          </a:p>
          <a:p>
            <a:pPr lvl="0" indent="-330200">
              <a:buSzPts val="1600"/>
              <a:buFont typeface="Poppins"/>
              <a:buChar char="●"/>
            </a:pPr>
            <a:r>
              <a:rPr lang="pt-BR" sz="1600" b="1" dirty="0"/>
              <a:t>Como resolvemos:</a:t>
            </a:r>
            <a:r>
              <a:rPr lang="pt-BR" sz="1600" dirty="0"/>
              <a:t> O método </a:t>
            </a:r>
            <a:r>
              <a:rPr lang="pt-BR" dirty="0" err="1"/>
              <a:t>adicionarPeca</a:t>
            </a:r>
            <a:r>
              <a:rPr lang="pt-BR" dirty="0"/>
              <a:t>()</a:t>
            </a:r>
            <a:r>
              <a:rPr lang="pt-BR" sz="1600" dirty="0"/>
              <a:t> valida </a:t>
            </a:r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 err="1"/>
              <a:t>this.status</a:t>
            </a:r>
            <a:r>
              <a:rPr lang="pt-BR" dirty="0"/>
              <a:t> == </a:t>
            </a:r>
            <a:r>
              <a:rPr lang="pt-BR" dirty="0" err="1"/>
              <a:t>StatusPedido.FINALIZADO</a:t>
            </a:r>
            <a:r>
              <a:rPr lang="pt-BR" dirty="0"/>
              <a:t>)</a:t>
            </a:r>
            <a:r>
              <a:rPr lang="pt-BR" sz="1600" dirty="0"/>
              <a:t>. Caso positivo, ele interrompe a execução com exceção de negócio, protegendo os valores financeiros.</a:t>
            </a:r>
          </a:p>
        </p:txBody>
      </p:sp>
    </p:spTree>
    <p:extLst>
      <p:ext uri="{BB962C8B-B14F-4D97-AF65-F5344CB8AC3E}">
        <p14:creationId xmlns:p14="http://schemas.microsoft.com/office/powerpoint/2010/main" val="1351083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0" y="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200" i="1" dirty="0">
                <a:highlight>
                  <a:srgbClr val="FFFFFF"/>
                </a:highlight>
              </a:rPr>
              <a:t>Tema 3: Ciclo de Vida da OS e Fila de Atendimento (FIFO)</a:t>
            </a:r>
            <a:endParaRPr sz="32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4627" y="-59302"/>
            <a:ext cx="1656531" cy="806503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9" name="Google Shape;99;p1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0" y="1085474"/>
                <a:ext cx="4519792" cy="4058025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lvl="0" indent="-330200">
                  <a:buSzPts val="1600"/>
                  <a:buFont typeface="Poppins"/>
                  <a:buChar char="●"/>
                </a:pPr>
                <a:r>
                  <a:rPr lang="pt-BR" sz="1600" i="1" dirty="0"/>
                  <a:t>Problema / Pedido do Guia:</a:t>
                </a:r>
                <a:r>
                  <a:rPr lang="pt-BR" sz="1600" dirty="0"/>
                  <a:t> Despachar serviços de ordens pagas para a oficina garantindo a política estrita de chegada sem permitir que mecânicos furem a fila.</a:t>
                </a:r>
              </a:p>
              <a:p>
                <a:pPr lvl="0" indent="-330200">
                  <a:buSzPts val="1600"/>
                  <a:buFont typeface="Poppins"/>
                  <a:buChar char="●"/>
                </a:pPr>
                <a:endParaRPr lang="pt-BR" sz="1600" dirty="0"/>
              </a:p>
              <a:p>
                <a:pPr lvl="0" indent="-330200">
                  <a:buSzPts val="1600"/>
                  <a:buFont typeface="Poppins"/>
                  <a:buChar char="●"/>
                </a:pPr>
                <a:r>
                  <a:rPr lang="pt-BR" sz="1600" i="1" dirty="0"/>
                  <a:t>Solução no Código:</a:t>
                </a:r>
                <a:r>
                  <a:rPr lang="pt-BR" sz="1600" dirty="0"/>
                  <a:t> </a:t>
                </a:r>
                <a:r>
                  <a:rPr lang="pt-BR" sz="1600" dirty="0" err="1"/>
                  <a:t>StatusOS</a:t>
                </a:r>
                <a:r>
                  <a:rPr lang="pt-BR" sz="1600" dirty="0"/>
                  <a:t> com 4 estados e estrutura própria </a:t>
                </a:r>
                <a:r>
                  <a:rPr lang="pt-BR" sz="1600" dirty="0" err="1"/>
                  <a:t>FilaAtendimento</a:t>
                </a:r>
                <a:r>
                  <a:rPr lang="pt-BR" sz="1600" dirty="0"/>
                  <a:t> baseada em nós encadeados (</a:t>
                </a:r>
                <a:r>
                  <a:rPr lang="pt-BR" sz="1600" dirty="0" err="1"/>
                  <a:t>NoFila</a:t>
                </a:r>
                <a:r>
                  <a:rPr lang="pt-BR" sz="1600" dirty="0"/>
                  <a:t>).  </a:t>
                </a:r>
              </a:p>
              <a:p>
                <a:pPr lvl="0" indent="-330200">
                  <a:buSzPts val="1600"/>
                  <a:buFont typeface="Poppins"/>
                  <a:buChar char="●"/>
                </a:pPr>
                <a:endParaRPr lang="pt-BR" sz="1600" dirty="0"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lvl="0" indent="-330200">
                  <a:buSzPts val="1600"/>
                  <a:buFont typeface="Poppins"/>
                  <a:buChar char="●"/>
                </a:pPr>
                <a:r>
                  <a:rPr lang="pt-BR" sz="1600" i="1" dirty="0"/>
                  <a:t>Evidência Técnica:</a:t>
                </a:r>
                <a:r>
                  <a:rPr lang="pt-BR" sz="1600" dirty="0"/>
                  <a:t> Operações puristas enfileirar() e </a:t>
                </a:r>
                <a:r>
                  <a:rPr lang="pt-BR" sz="1600" dirty="0" err="1"/>
                  <a:t>desenfileirar</a:t>
                </a:r>
                <a:r>
                  <a:rPr lang="pt-BR" sz="1600" dirty="0"/>
                  <a:t>() operando em complexidade de tempo constante </a:t>
                </a:r>
                <a14:m>
                  <m:oMath xmlns:m="http://schemas.openxmlformats.org/officeDocument/2006/math">
                    <m:r>
                      <a:rPr lang="pt-BR" sz="1600" i="1"/>
                      <m:t>𝑂</m:t>
                    </m:r>
                    <m:d>
                      <m:dPr>
                        <m:ctrlPr>
                          <a:rPr lang="pt-BR" sz="1600"/>
                        </m:ctrlPr>
                      </m:dPr>
                      <m:e>
                        <m:r>
                          <a:rPr lang="pt-BR" sz="1600"/>
                          <m:t>1</m:t>
                        </m:r>
                      </m:e>
                    </m:d>
                  </m:oMath>
                </a14:m>
                <a:r>
                  <a:rPr lang="pt-BR" sz="1600" dirty="0"/>
                  <a:t>. </a:t>
                </a:r>
                <a:endParaRPr sz="1600" dirty="0"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mc:Choice>
        <mc:Fallback>
          <p:sp>
            <p:nvSpPr>
              <p:cNvPr id="99" name="Google Shape;99;p1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085474"/>
                <a:ext cx="4519792" cy="40580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m 2">
            <a:extLst>
              <a:ext uri="{FF2B5EF4-FFF2-40B4-BE49-F238E27FC236}">
                <a16:creationId xmlns:a16="http://schemas.microsoft.com/office/drawing/2014/main" id="{E5D39406-81D9-9E9A-DEDF-5A4F7704E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265" y="556055"/>
            <a:ext cx="3904735" cy="45874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3D1637F-6588-BE73-1796-B6A565751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>
            <a:extLst>
              <a:ext uri="{FF2B5EF4-FFF2-40B4-BE49-F238E27FC236}">
                <a16:creationId xmlns:a16="http://schemas.microsoft.com/office/drawing/2014/main" id="{7CE832B8-2642-137D-33A5-6D4FC93D04E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97" name="Google Shape;97;p17">
            <a:extLst>
              <a:ext uri="{FF2B5EF4-FFF2-40B4-BE49-F238E27FC236}">
                <a16:creationId xmlns:a16="http://schemas.microsoft.com/office/drawing/2014/main" id="{FD597723-EE39-CAA5-5EC1-1242C1CDF7D6}"/>
              </a:ext>
            </a:extLst>
          </p:cNvPr>
          <p:cNvSpPr txBox="1"/>
          <p:nvPr/>
        </p:nvSpPr>
        <p:spPr>
          <a:xfrm>
            <a:off x="8558" y="28005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200" b="1" dirty="0">
                <a:highlight>
                  <a:srgbClr val="FFFFFF"/>
                </a:highlight>
              </a:rPr>
              <a:t>Foco no Código e Resolução:</a:t>
            </a:r>
            <a:endParaRPr sz="32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7">
            <a:extLst>
              <a:ext uri="{FF2B5EF4-FFF2-40B4-BE49-F238E27FC236}">
                <a16:creationId xmlns:a16="http://schemas.microsoft.com/office/drawing/2014/main" id="{422ACA4E-1817-A741-6135-90912580D4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3708" y="202954"/>
            <a:ext cx="1823100" cy="105695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9" name="Google Shape;99;p17">
                <a:extLst>
                  <a:ext uri="{FF2B5EF4-FFF2-40B4-BE49-F238E27FC236}">
                    <a16:creationId xmlns:a16="http://schemas.microsoft.com/office/drawing/2014/main" id="{CAA71B19-2526-4410-8C1E-AA158445F29D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52208" y="1421925"/>
                <a:ext cx="9091792" cy="342135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lvl="0" indent="-330200">
                  <a:buSzPts val="1600"/>
                  <a:buFont typeface="Poppins"/>
                  <a:buChar char="●"/>
                </a:pPr>
                <a:r>
                  <a:rPr lang="pt-BR" sz="1600" b="1" dirty="0"/>
                  <a:t>O que faz:</a:t>
                </a:r>
                <a:r>
                  <a:rPr lang="pt-BR" sz="1600" dirty="0"/>
                  <a:t> A OS controla o ciclo EM_ABERTO </a:t>
                </a:r>
                <a14:m>
                  <m:oMath xmlns:m="http://schemas.openxmlformats.org/officeDocument/2006/math">
                    <m:r>
                      <a:rPr lang="pt-BR" sz="1600"/>
                      <m:t>→</m:t>
                    </m:r>
                  </m:oMath>
                </a14:m>
                <a:r>
                  <a:rPr lang="pt-BR" sz="1600" dirty="0"/>
                  <a:t>AGUARDANDO_EXECUCAO </a:t>
                </a:r>
                <a14:m>
                  <m:oMath xmlns:m="http://schemas.openxmlformats.org/officeDocument/2006/math">
                    <m:r>
                      <a:rPr lang="pt-BR" sz="1600"/>
                      <m:t>→</m:t>
                    </m:r>
                  </m:oMath>
                </a14:m>
                <a:r>
                  <a:rPr lang="pt-BR" sz="1600" dirty="0"/>
                  <a:t>EM_EXECUCAO </a:t>
                </a:r>
                <a14:m>
                  <m:oMath xmlns:m="http://schemas.openxmlformats.org/officeDocument/2006/math">
                    <m:r>
                      <a:rPr lang="pt-BR" sz="1600"/>
                      <m:t>→</m:t>
                    </m:r>
                  </m:oMath>
                </a14:m>
                <a:r>
                  <a:rPr lang="pt-BR" sz="1600" dirty="0"/>
                  <a:t>FINALIZADA. Ao ser paga, o método </a:t>
                </a:r>
                <a:r>
                  <a:rPr lang="pt-BR" sz="1600" dirty="0" err="1"/>
                  <a:t>avancarParaAguardandoExecucao</a:t>
                </a:r>
                <a:r>
                  <a:rPr lang="pt-BR" sz="1600" dirty="0"/>
                  <a:t>() itera sobre os serviços e os injeta na fila. </a:t>
                </a:r>
              </a:p>
              <a:p>
                <a:pPr marL="127000" lvl="0" indent="0">
                  <a:buSzPts val="1600"/>
                  <a:buNone/>
                </a:pPr>
                <a:endParaRPr lang="pt-BR" sz="1600" dirty="0"/>
              </a:p>
              <a:p>
                <a:pPr lvl="0" indent="-330200">
                  <a:buSzPts val="1600"/>
                  <a:buFont typeface="Poppins"/>
                  <a:buChar char="●"/>
                </a:pPr>
                <a:r>
                  <a:rPr lang="pt-BR" sz="1600" b="1" dirty="0"/>
                  <a:t>Principal ponto pedido:</a:t>
                </a:r>
                <a:r>
                  <a:rPr lang="pt-BR" sz="1600" dirty="0"/>
                  <a:t> Implementação purista de fila (sem bibliotecas prontas) que impeça furar a ordem. </a:t>
                </a:r>
              </a:p>
              <a:p>
                <a:pPr marL="127000" lvl="0" indent="0">
                  <a:buSzPts val="1600"/>
                  <a:buNone/>
                </a:pPr>
                <a:endParaRPr lang="pt-BR" sz="1600" dirty="0"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lvl="0" indent="-330200">
                  <a:buSzPts val="1600"/>
                  <a:buFont typeface="Poppins"/>
                  <a:buChar char="●"/>
                </a:pPr>
                <a:r>
                  <a:rPr lang="pt-BR" sz="1600" b="1" dirty="0"/>
                  <a:t>Como resolvemos:</a:t>
                </a:r>
                <a:r>
                  <a:rPr lang="pt-BR" sz="1600" dirty="0"/>
                  <a:t> Implementamos a fila com ponteiros inicio e fim. O mecânico só consegue consumir a cabeça da estrutura via </a:t>
                </a:r>
                <a:r>
                  <a:rPr lang="pt-BR" sz="1600" dirty="0" err="1"/>
                  <a:t>desenfileirar</a:t>
                </a:r>
                <a:r>
                  <a:rPr lang="pt-BR" sz="1600" dirty="0"/>
                  <a:t>(), mantendo estritamente a política </a:t>
                </a:r>
                <a:r>
                  <a:rPr lang="pt-BR" sz="1600" i="1" dirty="0" err="1"/>
                  <a:t>First</a:t>
                </a:r>
                <a:r>
                  <a:rPr lang="pt-BR" sz="1600" i="1" dirty="0"/>
                  <a:t>-In, </a:t>
                </a:r>
                <a:r>
                  <a:rPr lang="pt-BR" sz="1600" i="1" dirty="0" err="1"/>
                  <a:t>First</a:t>
                </a:r>
                <a:r>
                  <a:rPr lang="pt-BR" sz="1600" i="1" dirty="0"/>
                  <a:t>-Out</a:t>
                </a:r>
                <a:r>
                  <a:rPr lang="pt-BR" sz="1600" dirty="0"/>
                  <a:t>. </a:t>
                </a:r>
                <a:endParaRPr sz="1600" dirty="0"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mc:Choice>
        <mc:Fallback>
          <p:sp>
            <p:nvSpPr>
              <p:cNvPr id="99" name="Google Shape;99;p17">
                <a:extLst>
                  <a:ext uri="{FF2B5EF4-FFF2-40B4-BE49-F238E27FC236}">
                    <a16:creationId xmlns:a16="http://schemas.microsoft.com/office/drawing/2014/main" id="{CAA71B19-2526-4410-8C1E-AA158445F29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2208" y="1421925"/>
                <a:ext cx="9091792" cy="3421350"/>
              </a:xfrm>
              <a:prstGeom prst="rect">
                <a:avLst/>
              </a:prstGeom>
              <a:blipFill>
                <a:blip r:embed="rId4"/>
                <a:stretch>
                  <a:fillRect r="-60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24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Google Shape;106;p1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42" y="1631575"/>
                <a:ext cx="85206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/>
              </a:bodyPr>
              <a:lstStyle/>
              <a:p>
                <a:pPr lvl="0">
                  <a:buFont typeface="Poppins"/>
                  <a:buChar char="●"/>
                </a:pPr>
                <a:r>
                  <a:rPr lang="pt-BR" i="1" dirty="0"/>
                  <a:t>Problema / Pedido do Guia:</a:t>
                </a:r>
                <a:r>
                  <a:rPr lang="pt-BR" dirty="0"/>
                  <a:t> Ordenar o catálogo de peças e serviços do zero recebendo a chave de comparação via Enum (NOME ou CODIGO). </a:t>
                </a:r>
              </a:p>
              <a:p>
                <a:pPr lvl="0">
                  <a:buFont typeface="Poppins"/>
                  <a:buChar char="●"/>
                </a:pPr>
                <a:endParaRPr lang="pt-BR" dirty="0"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lvl="0">
                  <a:buFont typeface="Poppins"/>
                  <a:buChar char="●"/>
                </a:pPr>
                <a:r>
                  <a:rPr lang="pt-BR" i="1" dirty="0"/>
                  <a:t>Solução no Código:</a:t>
                </a:r>
                <a:r>
                  <a:rPr lang="pt-BR" dirty="0"/>
                  <a:t> Implementação do algoritmo clássico </a:t>
                </a:r>
                <a:r>
                  <a:rPr lang="pt-BR" i="1" dirty="0" err="1"/>
                  <a:t>Insertion</a:t>
                </a:r>
                <a:r>
                  <a:rPr lang="pt-BR" i="1" dirty="0"/>
                  <a:t> </a:t>
                </a:r>
                <a:r>
                  <a:rPr lang="pt-BR" i="1" dirty="0" err="1"/>
                  <a:t>Sort</a:t>
                </a:r>
                <a:r>
                  <a:rPr lang="pt-BR" dirty="0"/>
                  <a:t> na classe Ordenador.java. </a:t>
                </a:r>
              </a:p>
              <a:p>
                <a:pPr lvl="0">
                  <a:buFont typeface="Poppins"/>
                  <a:buChar char="●"/>
                </a:pPr>
                <a:endParaRPr lang="pt-BR" dirty="0"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lvl="0">
                  <a:buFont typeface="Poppins"/>
                  <a:buChar char="●"/>
                </a:pPr>
                <a:r>
                  <a:rPr lang="pt-BR" i="1" dirty="0"/>
                  <a:t>Evidência Técnica:</a:t>
                </a:r>
                <a:r>
                  <a:rPr lang="pt-BR" dirty="0"/>
                  <a:t> Mecanismo de deslocamento seguro sem sobrescrita via variável auxiliar e complexidade de melhor caso </a:t>
                </a:r>
                <a14:m>
                  <m:oMath xmlns:m="http://schemas.openxmlformats.org/officeDocument/2006/math">
                    <m:r>
                      <a:rPr lang="pt-BR" i="1"/>
                      <m:t>𝑂</m:t>
                    </m:r>
                    <m:d>
                      <m:dPr>
                        <m:ctrlPr>
                          <a:rPr lang="pt-BR" i="1"/>
                        </m:ctrlPr>
                      </m:dPr>
                      <m:e>
                        <m:r>
                          <a:rPr lang="pt-BR" i="1"/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. </a:t>
                </a:r>
                <a:endParaRPr dirty="0"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mc:Choice>
        <mc:Fallback>
          <p:sp>
            <p:nvSpPr>
              <p:cNvPr id="106" name="Google Shape;106;p1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42" y="1631575"/>
                <a:ext cx="8520600" cy="3416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340050" y="28005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200" i="1" dirty="0">
                <a:highlight>
                  <a:srgbClr val="FFFFFF"/>
                </a:highlight>
              </a:rPr>
              <a:t>Tema 4: Ordenação Algorítmica e Flexibilidade de Chaves</a:t>
            </a:r>
            <a:endParaRPr sz="32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3E6E2563-A166-B7AB-C86B-FEE1B48D5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Google Shape;106;p18">
                <a:extLst>
                  <a:ext uri="{FF2B5EF4-FFF2-40B4-BE49-F238E27FC236}">
                    <a16:creationId xmlns:a16="http://schemas.microsoft.com/office/drawing/2014/main" id="{09B2ED99-DA9B-87C7-EEEE-497D6477CA7E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22842" y="1337000"/>
                <a:ext cx="8520600" cy="34164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rmAutofit lnSpcReduction="10000"/>
              </a:bodyPr>
              <a:lstStyle/>
              <a:p>
                <a:pPr lvl="0">
                  <a:buFont typeface="Poppins"/>
                  <a:buChar char="●"/>
                </a:pPr>
                <a:r>
                  <a:rPr lang="pt-BR" b="1" dirty="0"/>
                  <a:t>O que faz:</a:t>
                </a:r>
                <a:r>
                  <a:rPr lang="pt-BR" dirty="0"/>
                  <a:t> </a:t>
                </a:r>
                <a:r>
                  <a:rPr lang="pt-BR" dirty="0" err="1"/>
                  <a:t>Ordenador.ordenarPecas</a:t>
                </a:r>
                <a:r>
                  <a:rPr lang="pt-BR" dirty="0"/>
                  <a:t>() e </a:t>
                </a:r>
                <a:r>
                  <a:rPr lang="pt-BR" dirty="0" err="1"/>
                  <a:t>ordenarServicos</a:t>
                </a:r>
                <a:r>
                  <a:rPr lang="pt-BR" dirty="0"/>
                  <a:t>() organizam os vetores comparando </a:t>
                </a:r>
                <a:r>
                  <a:rPr lang="pt-BR" dirty="0" err="1"/>
                  <a:t>strings</a:t>
                </a:r>
                <a:r>
                  <a:rPr lang="pt-BR" dirty="0"/>
                  <a:t> alfabeticamente ou inteiros numericamente conforme o parâmetro </a:t>
                </a:r>
                <a:r>
                  <a:rPr lang="pt-BR" dirty="0" err="1"/>
                  <a:t>ChaveOrdenacao</a:t>
                </a:r>
                <a:r>
                  <a:rPr lang="pt-BR" dirty="0"/>
                  <a:t>.</a:t>
                </a:r>
              </a:p>
              <a:p>
                <a:pPr lvl="0">
                  <a:buFont typeface="Poppins"/>
                  <a:buChar char="●"/>
                </a:pPr>
                <a:endParaRPr lang="pt-BR" dirty="0"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lvl="0">
                  <a:buFont typeface="Poppins"/>
                  <a:buChar char="●"/>
                </a:pPr>
                <a:r>
                  <a:rPr lang="pt-BR" b="1" dirty="0"/>
                  <a:t>Principal ponto pedido:</a:t>
                </a:r>
                <a:r>
                  <a:rPr lang="pt-BR" dirty="0"/>
                  <a:t> Construção do algoritmo do zero sem </a:t>
                </a:r>
                <a:r>
                  <a:rPr lang="pt-BR" dirty="0" err="1"/>
                  <a:t>Collections.sort</a:t>
                </a:r>
                <a:r>
                  <a:rPr lang="pt-BR" dirty="0"/>
                  <a:t>() e defesa da técnica de troca (</a:t>
                </a:r>
                <a:r>
                  <a:rPr lang="pt-BR" i="1" dirty="0"/>
                  <a:t>swap</a:t>
                </a:r>
                <a:r>
                  <a:rPr lang="pt-BR" dirty="0"/>
                  <a:t>).</a:t>
                </a:r>
              </a:p>
              <a:p>
                <a:pPr marL="114300" lvl="0" indent="0">
                  <a:buNone/>
                </a:pPr>
                <a:endParaRPr lang="pt-BR" dirty="0"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lvl="0">
                  <a:buFont typeface="Poppins"/>
                  <a:buChar char="●"/>
                </a:pPr>
                <a:r>
                  <a:rPr lang="pt-BR" b="1" dirty="0"/>
                  <a:t>Como resolvemos:</a:t>
                </a:r>
                <a:r>
                  <a:rPr lang="pt-BR" dirty="0"/>
                  <a:t> Utilizamos a lógica de inserção direta: guardamos o item analisado em </a:t>
                </a:r>
                <a:r>
                  <a:rPr lang="pt-BR" dirty="0" err="1"/>
                  <a:t>chaveAtual</a:t>
                </a:r>
                <a:r>
                  <a:rPr lang="pt-BR" dirty="0"/>
                  <a:t>, deslocamos os itens maiores para a direita e inserimos a chave na lacuna correta, operando em </a:t>
                </a:r>
                <a14:m>
                  <m:oMath xmlns:m="http://schemas.openxmlformats.org/officeDocument/2006/math">
                    <m:r>
                      <a:rPr lang="pt-BR" i="1"/>
                      <m:t>𝑂</m:t>
                    </m:r>
                    <m:d>
                      <m:dPr>
                        <m:ctrlPr>
                          <a:rPr lang="pt-BR" i="1"/>
                        </m:ctrlPr>
                      </m:dPr>
                      <m:e>
                        <m:r>
                          <a:rPr lang="pt-BR" i="1"/>
                          <m:t>𝑛</m:t>
                        </m:r>
                      </m:e>
                    </m:d>
                  </m:oMath>
                </a14:m>
                <a:r>
                  <a:rPr lang="pt-BR" dirty="0"/>
                  <a:t>se os dados já estiverem quase ordenados. </a:t>
                </a:r>
                <a:endParaRPr dirty="0"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mc:Choice>
        <mc:Fallback>
          <p:sp>
            <p:nvSpPr>
              <p:cNvPr id="106" name="Google Shape;106;p18">
                <a:extLst>
                  <a:ext uri="{FF2B5EF4-FFF2-40B4-BE49-F238E27FC236}">
                    <a16:creationId xmlns:a16="http://schemas.microsoft.com/office/drawing/2014/main" id="{09B2ED99-DA9B-87C7-EEEE-497D6477CA7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22842" y="1337000"/>
                <a:ext cx="8520600" cy="3416400"/>
              </a:xfrm>
              <a:prstGeom prst="rect">
                <a:avLst/>
              </a:prstGeom>
              <a:blipFill>
                <a:blip r:embed="rId3"/>
                <a:stretch>
                  <a:fillRect r="-114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Google Shape;107;p18">
            <a:extLst>
              <a:ext uri="{FF2B5EF4-FFF2-40B4-BE49-F238E27FC236}">
                <a16:creationId xmlns:a16="http://schemas.microsoft.com/office/drawing/2014/main" id="{285743B3-35CC-2226-9730-20F196D5BF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sp>
        <p:nvSpPr>
          <p:cNvPr id="108" name="Google Shape;108;p18">
            <a:extLst>
              <a:ext uri="{FF2B5EF4-FFF2-40B4-BE49-F238E27FC236}">
                <a16:creationId xmlns:a16="http://schemas.microsoft.com/office/drawing/2014/main" id="{0F330759-C213-36A3-FD9F-4C6A587C794E}"/>
              </a:ext>
            </a:extLst>
          </p:cNvPr>
          <p:cNvSpPr txBox="1"/>
          <p:nvPr/>
        </p:nvSpPr>
        <p:spPr>
          <a:xfrm>
            <a:off x="340050" y="28005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200" b="1" dirty="0">
                <a:highlight>
                  <a:srgbClr val="FFFFFF"/>
                </a:highlight>
              </a:rPr>
              <a:t>Foco no Código e Resolução:</a:t>
            </a:r>
            <a:endParaRPr sz="32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" name="Google Shape;109;p18">
            <a:extLst>
              <a:ext uri="{FF2B5EF4-FFF2-40B4-BE49-F238E27FC236}">
                <a16:creationId xmlns:a16="http://schemas.microsoft.com/office/drawing/2014/main" id="{EE26D611-C606-CE39-7DFE-5F2315D82E6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487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509C8FE0-5153-D971-1EC9-C157ED8C7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8A0FF4BA-F43E-B43D-7E85-7539B73EF9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398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Font typeface="Poppins"/>
              <a:buChar char="●"/>
            </a:pPr>
            <a:r>
              <a:rPr lang="pt-BR" i="1" dirty="0"/>
              <a:t>Problema / Pedido do Guia:</a:t>
            </a:r>
            <a:r>
              <a:rPr lang="pt-BR" dirty="0"/>
              <a:t> Superar a volatilidade da memória RAM exportando todos os dados em formato .</a:t>
            </a:r>
            <a:r>
              <a:rPr lang="pt-BR" dirty="0" err="1"/>
              <a:t>csv</a:t>
            </a:r>
            <a:r>
              <a:rPr lang="pt-BR" dirty="0"/>
              <a:t> com delimitador ponto e vírgula (;).</a:t>
            </a:r>
          </a:p>
          <a:p>
            <a:pPr lvl="0">
              <a:buFont typeface="Poppins"/>
              <a:buChar char="●"/>
            </a:pPr>
            <a:endParaRPr lang="pt-BR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Font typeface="Poppins"/>
              <a:buChar char="●"/>
            </a:pPr>
            <a:r>
              <a:rPr lang="pt-BR" i="1" dirty="0"/>
              <a:t>Solução no Código:</a:t>
            </a:r>
            <a:r>
              <a:rPr lang="pt-BR" dirty="0"/>
              <a:t> Métodos </a:t>
            </a:r>
            <a:r>
              <a:rPr lang="pt-BR" dirty="0" err="1"/>
              <a:t>toCSV</a:t>
            </a:r>
            <a:r>
              <a:rPr lang="pt-BR" dirty="0"/>
              <a:t>() e </a:t>
            </a:r>
            <a:r>
              <a:rPr lang="pt-BR" dirty="0" err="1"/>
              <a:t>fromCSV</a:t>
            </a:r>
            <a:r>
              <a:rPr lang="pt-BR" dirty="0"/>
              <a:t>() nas entidades e classe </a:t>
            </a:r>
            <a:r>
              <a:rPr lang="pt-BR" dirty="0" err="1"/>
              <a:t>PersistenciaCSV</a:t>
            </a:r>
            <a:r>
              <a:rPr lang="pt-BR" dirty="0"/>
              <a:t> com </a:t>
            </a:r>
            <a:r>
              <a:rPr lang="pt-BR" dirty="0" err="1"/>
              <a:t>BufferedWriter</a:t>
            </a:r>
            <a:r>
              <a:rPr lang="pt-BR" dirty="0"/>
              <a:t>/</a:t>
            </a:r>
            <a:r>
              <a:rPr lang="pt-BR" dirty="0" err="1"/>
              <a:t>BufferedReader</a:t>
            </a:r>
            <a:r>
              <a:rPr lang="pt-BR" dirty="0"/>
              <a:t>. </a:t>
            </a:r>
          </a:p>
          <a:p>
            <a:pPr lvl="0">
              <a:buFont typeface="Poppins"/>
              <a:buChar char="●"/>
            </a:pPr>
            <a:endParaRPr lang="pt-BR" dirty="0">
              <a:sym typeface="Poppins"/>
            </a:endParaRPr>
          </a:p>
          <a:p>
            <a:pPr lvl="0">
              <a:buFont typeface="Poppins"/>
              <a:buChar char="●"/>
            </a:pPr>
            <a:r>
              <a:rPr lang="pt-BR" i="1" dirty="0"/>
              <a:t>Pontos de Interesse:</a:t>
            </a:r>
            <a:r>
              <a:rPr lang="pt-BR" dirty="0"/>
              <a:t> Proteção contra falhas de sistema operacional usando blocos </a:t>
            </a:r>
            <a:r>
              <a:rPr lang="pt-BR" dirty="0" err="1"/>
              <a:t>try-with-resources</a:t>
            </a:r>
            <a:r>
              <a:rPr lang="pt-BR" dirty="0"/>
              <a:t>. </a:t>
            </a:r>
            <a:endParaRPr dirty="0">
              <a:sym typeface="Poppins"/>
            </a:endParaRP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11CDC7FB-F965-E316-145A-3EF6ED6858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sp>
        <p:nvSpPr>
          <p:cNvPr id="117" name="Google Shape;117;p19">
            <a:extLst>
              <a:ext uri="{FF2B5EF4-FFF2-40B4-BE49-F238E27FC236}">
                <a16:creationId xmlns:a16="http://schemas.microsoft.com/office/drawing/2014/main" id="{19CA5442-34AE-FCE5-BD70-699EC676D446}"/>
              </a:ext>
            </a:extLst>
          </p:cNvPr>
          <p:cNvSpPr txBox="1"/>
          <p:nvPr/>
        </p:nvSpPr>
        <p:spPr>
          <a:xfrm>
            <a:off x="282908" y="243116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200" i="1" dirty="0">
                <a:highlight>
                  <a:srgbClr val="FFFFFF"/>
                </a:highlight>
              </a:rPr>
              <a:t>Tema 5: Ciclo de Vida dos Dados e Persistência CSV</a:t>
            </a:r>
            <a:endParaRPr sz="32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9">
            <a:extLst>
              <a:ext uri="{FF2B5EF4-FFF2-40B4-BE49-F238E27FC236}">
                <a16:creationId xmlns:a16="http://schemas.microsoft.com/office/drawing/2014/main" id="{A1F10559-4094-2706-3853-65A290E3D4D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8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5DE2FE06-55F9-6DBA-89F1-6FCF8D90D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>
            <a:extLst>
              <a:ext uri="{FF2B5EF4-FFF2-40B4-BE49-F238E27FC236}">
                <a16:creationId xmlns:a16="http://schemas.microsoft.com/office/drawing/2014/main" id="{3CDFCCE0-9104-E885-5D12-FD90BDC28C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483984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Font typeface="Poppins"/>
              <a:buChar char="●"/>
            </a:pPr>
            <a:r>
              <a:rPr lang="pt-BR" b="1" dirty="0"/>
              <a:t>O que faz:</a:t>
            </a:r>
            <a:r>
              <a:rPr lang="pt-BR" dirty="0"/>
              <a:t> Converte instâncias de Clientes, Carros, Peças e Serviços em linhas sequenciais de texto delimitadas por ; e as grava no disco. </a:t>
            </a:r>
          </a:p>
          <a:p>
            <a:pPr marL="114300" lvl="0" indent="0">
              <a:buNone/>
            </a:pPr>
            <a:endParaRPr lang="pt-BR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Font typeface="Poppins"/>
              <a:buChar char="●"/>
            </a:pPr>
            <a:r>
              <a:rPr lang="pt-BR" b="1" dirty="0"/>
              <a:t>Principal ponto pedido:</a:t>
            </a:r>
            <a:r>
              <a:rPr lang="pt-BR" dirty="0"/>
              <a:t> Garantir que números de ponto flutuante com vírgula decimal não corrompam a quebra de colunas.</a:t>
            </a:r>
          </a:p>
          <a:p>
            <a:pPr marL="114300" lvl="0" indent="0">
              <a:buNone/>
            </a:pPr>
            <a:endParaRPr lang="pt-BR" dirty="0">
              <a:sym typeface="Poppins"/>
            </a:endParaRPr>
          </a:p>
          <a:p>
            <a:pPr lvl="0">
              <a:buFont typeface="Poppins"/>
              <a:buChar char="●"/>
            </a:pPr>
            <a:r>
              <a:rPr lang="pt-BR" b="1" dirty="0"/>
              <a:t>Como resolvemos:</a:t>
            </a:r>
            <a:r>
              <a:rPr lang="pt-BR" dirty="0"/>
              <a:t> Padronizamos a quebra exclusivamente com o separador ;. A leitura faz o .split(";") e </a:t>
            </a:r>
            <a:r>
              <a:rPr lang="pt-BR" dirty="0" err="1"/>
              <a:t>reinstancia</a:t>
            </a:r>
            <a:r>
              <a:rPr lang="pt-BR" dirty="0"/>
              <a:t> os objetos na memória restaurando o estado exato da oficina. </a:t>
            </a:r>
            <a:endParaRPr dirty="0">
              <a:sym typeface="Poppins"/>
            </a:endParaRPr>
          </a:p>
        </p:txBody>
      </p:sp>
      <p:sp>
        <p:nvSpPr>
          <p:cNvPr id="116" name="Google Shape;116;p19">
            <a:extLst>
              <a:ext uri="{FF2B5EF4-FFF2-40B4-BE49-F238E27FC236}">
                <a16:creationId xmlns:a16="http://schemas.microsoft.com/office/drawing/2014/main" id="{4AC47F10-B31A-6734-2777-CE3F48DCA2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  <p:sp>
        <p:nvSpPr>
          <p:cNvPr id="117" name="Google Shape;117;p19">
            <a:extLst>
              <a:ext uri="{FF2B5EF4-FFF2-40B4-BE49-F238E27FC236}">
                <a16:creationId xmlns:a16="http://schemas.microsoft.com/office/drawing/2014/main" id="{723EB73F-7581-D695-B683-68AE444181E6}"/>
              </a:ext>
            </a:extLst>
          </p:cNvPr>
          <p:cNvSpPr txBox="1"/>
          <p:nvPr/>
        </p:nvSpPr>
        <p:spPr>
          <a:xfrm>
            <a:off x="282908" y="243116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sz="3200" b="1" dirty="0">
                <a:highlight>
                  <a:srgbClr val="FFFFFF"/>
                </a:highlight>
              </a:rPr>
              <a:t>Foco no Código e Resolução:</a:t>
            </a:r>
            <a:endParaRPr sz="3200" b="1" dirty="0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9">
            <a:extLst>
              <a:ext uri="{FF2B5EF4-FFF2-40B4-BE49-F238E27FC236}">
                <a16:creationId xmlns:a16="http://schemas.microsoft.com/office/drawing/2014/main" id="{673DB7FB-F028-E163-07E0-FBB2C667C9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73629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Font typeface="Poppins"/>
              <a:buChar char="●"/>
            </a:pPr>
            <a:r>
              <a:rPr lang="pt-BR" dirty="0"/>
              <a:t>Referências do Projeto</a:t>
            </a:r>
          </a:p>
          <a:p>
            <a:pPr lvl="0">
              <a:buFont typeface="Poppins"/>
              <a:buChar char="●"/>
            </a:pPr>
            <a:endParaRPr lang="pt-BR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Font typeface="Poppins"/>
              <a:buChar char="●"/>
            </a:pPr>
            <a:r>
              <a:rPr lang="pt-BR" dirty="0">
                <a:hlinkClick r:id="rId3"/>
              </a:rPr>
              <a:t>https://www.ime.usp.br/~pf/algoritmos/aulas/ordena.html</a:t>
            </a:r>
            <a:endParaRPr lang="pt-BR" dirty="0"/>
          </a:p>
          <a:p>
            <a:pPr lvl="0">
              <a:buFont typeface="Poppins"/>
              <a:buChar char="●"/>
            </a:pPr>
            <a:r>
              <a:rPr lang="pt-BR" dirty="0">
                <a:hlinkClick r:id="rId4"/>
              </a:rPr>
              <a:t>https://www.devmedia.com.br/algoritmos-de-ordenacao-em-java/32693</a:t>
            </a:r>
            <a:endParaRPr lang="pt-BR" dirty="0"/>
          </a:p>
          <a:p>
            <a:pPr lvl="0">
              <a:buFont typeface="Poppins"/>
              <a:buChar char="●"/>
            </a:pPr>
            <a:r>
              <a:rPr lang="pt-BR" dirty="0">
                <a:hlinkClick r:id="rId5"/>
              </a:rPr>
              <a:t>https://docs.oracle.com/javase/tutorial/java/javaOO/enum.html</a:t>
            </a:r>
            <a:endParaRPr lang="pt-BR" dirty="0"/>
          </a:p>
          <a:p>
            <a:pPr lvl="0">
              <a:buFont typeface="Poppins"/>
              <a:buChar char="●"/>
            </a:pPr>
            <a:r>
              <a:rPr lang="pt-BR" dirty="0">
                <a:hlinkClick r:id="rId6"/>
              </a:rPr>
              <a:t>https://dev.java/learn/classes-objects/enums/</a:t>
            </a:r>
            <a:endParaRPr lang="pt-BR" dirty="0"/>
          </a:p>
          <a:p>
            <a:pPr lvl="0">
              <a:buFont typeface="Poppins"/>
              <a:buChar char="●"/>
            </a:pPr>
            <a:endParaRPr lang="pt-BR" dirty="0"/>
          </a:p>
        </p:txBody>
      </p:sp>
      <p:sp>
        <p:nvSpPr>
          <p:cNvPr id="116" name="Google Shape;11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sz="3200" b="1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1056</Words>
  <Application>Microsoft Office PowerPoint</Application>
  <PresentationFormat>Apresentação na tela (16:9)</PresentationFormat>
  <Paragraphs>99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Poppins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gustavo gabriel</cp:lastModifiedBy>
  <cp:revision>3</cp:revision>
  <dcterms:modified xsi:type="dcterms:W3CDTF">2026-09-20T02:46:06Z</dcterms:modified>
</cp:coreProperties>
</file>